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E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"/>
              </a:rPr>
              <a:t>Monthly management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C6DCE8"/>
                </a:solidFill>
                <a:latin typeface="Helvetica"/>
              </a:rPr>
              <a:t>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"/>
              </a:rPr>
              <a:t>Gross profit -73,405.91 KES against budget (-19.38%)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DCE8"/>
                </a:solidFill>
                <a:latin typeface="Helvetica"/>
              </a:rPr>
              <a:t>Synthetic ledger, fingerprint f8b8fa811c7ef11b  |  120 lines, 3 branches, 18 months  |  17 published checks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7202A"/>
                </a:solidFill>
                <a:latin typeface="Helvetica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C8C"/>
                </a:solidFill>
                <a:latin typeface="Helvetica"/>
              </a:rPr>
              <a:t>One month, two numbers, and the driver behind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3383280" cy="1554480"/>
          </a:xfrm>
          <a:prstGeom prst="rect">
            <a:avLst/>
          </a:prstGeom>
          <a:solidFill>
            <a:srgbClr val="F0F4F8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B03A2E"/>
                </a:solidFill>
                <a:latin typeface="Helvetica"/>
              </a:rPr>
              <a:t>-73,405.91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7C8C"/>
                </a:solidFill>
                <a:latin typeface="Helvetica"/>
              </a:rPr>
              <a:t>gross profit variance (KES)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828800"/>
            <a:ext cx="3383280" cy="1554480"/>
          </a:xfrm>
          <a:prstGeom prst="rect">
            <a:avLst/>
          </a:prstGeom>
          <a:solidFill>
            <a:srgbClr val="F0F4F8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57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B03A2E"/>
                </a:solidFill>
                <a:latin typeface="Helvetica"/>
              </a:rPr>
              <a:t>-19.38%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7C8C"/>
                </a:solidFill>
                <a:latin typeface="Helvetica"/>
              </a:rPr>
              <a:t>gross profit vs budget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59" y="1828800"/>
            <a:ext cx="3383280" cy="1554480"/>
          </a:xfrm>
          <a:prstGeom prst="rect">
            <a:avLst/>
          </a:prstGeom>
          <a:solidFill>
            <a:srgbClr val="F0F4F8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2057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7202A"/>
                </a:solidFill>
                <a:latin typeface="Helvetica"/>
              </a:rPr>
              <a:t>-0.74%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7C8C"/>
                </a:solidFill>
                <a:latin typeface="Helvetica"/>
              </a:rPr>
              <a:t>revenue vs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7202A"/>
                </a:solidFill>
                <a:latin typeface="Helvetica"/>
              </a:rPr>
              <a:t>Revenue is roughly on plan; gross profit is not. Price is the largest single driver of the gap, and every figure on the following slides reconciles to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7C8C"/>
                </a:solidFill>
                <a:latin typeface="Helvetica"/>
              </a:rPr>
              <a:t>All figures from outputs/answer_key.json; synthetic ledger, disclosed.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7202A"/>
                </a:solidFill>
                <a:latin typeface="Helvetica"/>
              </a:rPr>
              <a:t>Where the profit went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C8C"/>
                </a:solidFill>
                <a:latin typeface="Helvetica"/>
              </a:rPr>
              <a:t>Budget to actual, four drivers that sum to the gap</a:t>
            </a:r>
          </a:p>
        </p:txBody>
      </p:sp>
      <p:pic>
        <p:nvPicPr>
          <p:cNvPr id="4" name="Picture 3" descr="01_bridge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881360" cy="61427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7C8C"/>
                </a:solidFill>
                <a:latin typeface="Helvetica"/>
              </a:rPr>
              <a:t>Each bar carries its value and its share of the gap; axis starts near the level, not at zero.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7202A"/>
                </a:solidFill>
                <a:latin typeface="Helvetica"/>
              </a:rPr>
              <a:t>Price and cost did the damage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C8C"/>
                </a:solidFill>
                <a:latin typeface="Helvetica"/>
              </a:rPr>
              <a:t>The bridge in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2468880"/>
                <a:gridCol w="2560320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Driver</a:t>
                      </a:r>
                    </a:p>
                  </a:txBody>
                  <a:tcPr>
                    <a:solidFill>
                      <a:srgbClr val="0B5E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KES</a:t>
                      </a:r>
                    </a:p>
                  </a:txBody>
                  <a:tcPr>
                    <a:solidFill>
                      <a:srgbClr val="0B5E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Share of budget GP</a:t>
                      </a:r>
                    </a:p>
                  </a:txBody>
                  <a:tcPr>
                    <a:solidFill>
                      <a:srgbClr val="0B5E8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202A"/>
                          </a:solidFill>
                        </a:rPr>
                        <a:t>Volume - total units at budget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202A"/>
                          </a:solidFill>
                        </a:rPr>
                        <a:t>8,755.42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202A"/>
                          </a:solidFill>
                        </a:rPr>
                        <a:t>2.31%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202A"/>
                          </a:solidFill>
                        </a:rPr>
                        <a:t>Mix - a different blend at budget margins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202A"/>
                          </a:solidFill>
                        </a:rPr>
                        <a:t>-14,164.16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202A"/>
                          </a:solidFill>
                        </a:rPr>
                        <a:t>-3.74%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202A"/>
                          </a:solidFill>
                        </a:rPr>
                        <a:t>Price - actual units at the change in selling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202A"/>
                          </a:solidFill>
                        </a:rPr>
                        <a:t>-41,943.76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202A"/>
                          </a:solidFill>
                        </a:rPr>
                        <a:t>-11.07%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202A"/>
                          </a:solidFill>
                        </a:rPr>
                        <a:t>Cost - actual units at the change in unit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202A"/>
                          </a:solidFill>
                        </a:rPr>
                        <a:t>-26,053.41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202A"/>
                          </a:solidFill>
                        </a:rPr>
                        <a:t>-6.88%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202A"/>
                          </a:solidFill>
                        </a:rPr>
                        <a:t>Total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7202A"/>
                          </a:solidFill>
                        </a:rPr>
                        <a:t>-73,405.91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7202A"/>
                          </a:solidFill>
                        </a:rPr>
                        <a:t>-19.38%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7C8C"/>
                </a:solidFill>
                <a:latin typeface="Helvetica"/>
              </a:rPr>
              <a:t>The four rows add to the total to the cent.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7202A"/>
                </a:solidFill>
                <a:latin typeface="Helvetica"/>
              </a:rPr>
              <a:t>Who owns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C8C"/>
                </a:solidFill>
                <a:latin typeface="Helvetica"/>
              </a:rPr>
              <a:t>Each driver attributed to the department that can act on it</a:t>
            </a:r>
          </a:p>
        </p:txBody>
      </p:sp>
      <p:pic>
        <p:nvPicPr>
          <p:cNvPr id="4" name="Picture 3" descr="03_variance_by_ow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315200" cy="412954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863840" y="1737360"/>
          <a:ext cx="3749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640080"/>
              </a:tblGrid>
              <a:tr h="4754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Department</a:t>
                      </a:r>
                    </a:p>
                  </a:txBody>
                  <a:tcPr>
                    <a:solidFill>
                      <a:srgbClr val="0B5E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KES</a:t>
                      </a:r>
                    </a:p>
                  </a:txBody>
                  <a:tcPr>
                    <a:solidFill>
                      <a:srgbClr val="0B5E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>
                    <a:solidFill>
                      <a:srgbClr val="0B5E8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202A"/>
                          </a:solidFill>
                        </a:rPr>
                        <a:t>Branch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202A"/>
                          </a:solidFill>
                        </a:rPr>
                        <a:t>8,755.42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202A"/>
                          </a:solidFill>
                        </a:rPr>
                        <a:t>12%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202A"/>
                          </a:solidFill>
                        </a:rPr>
                        <a:t>Commercial / Pricing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202A"/>
                          </a:solidFill>
                        </a:rPr>
                        <a:t>-41,943.76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202A"/>
                          </a:solidFill>
                        </a:rPr>
                        <a:t>57%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202A"/>
                          </a:solidFill>
                        </a:rPr>
                        <a:t>Category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202A"/>
                          </a:solidFill>
                        </a:rPr>
                        <a:t>-14,164.16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202A"/>
                          </a:solidFill>
                        </a:rPr>
                        <a:t>19%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202A"/>
                          </a:solidFill>
                        </a:rPr>
                        <a:t>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202A"/>
                          </a:solidFill>
                        </a:rPr>
                        <a:t>-26,053.41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202A"/>
                          </a:solidFill>
                        </a:rPr>
                        <a:t>35%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7C8C"/>
                </a:solidFill>
                <a:latin typeface="Helvetica"/>
              </a:rPr>
              <a:t>Ownership is arithmetic: the department that can move the largest component of each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7202A"/>
                </a:solidFill>
                <a:latin typeface="Helvetica"/>
              </a:rPr>
              <a:t>Line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C8C"/>
                </a:solidFill>
                <a:latin typeface="Helvetica"/>
              </a:rPr>
              <a:t>The five worst lines, each with its owner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1554480"/>
                <a:gridCol w="1463040"/>
                <a:gridCol w="1554480"/>
                <a:gridCol w="201168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Branch</a:t>
                      </a:r>
                    </a:p>
                  </a:txBody>
                  <a:tcPr>
                    <a:solidFill>
                      <a:srgbClr val="0B5E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>
                    <a:solidFill>
                      <a:srgbClr val="0B5E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Variance</a:t>
                      </a:r>
                    </a:p>
                  </a:txBody>
                  <a:tcPr>
                    <a:solidFill>
                      <a:srgbClr val="0B5E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Price</a:t>
                      </a:r>
                    </a:p>
                  </a:txBody>
                  <a:tcPr>
                    <a:solidFill>
                      <a:srgbClr val="0B5E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Unit cost</a:t>
                      </a:r>
                    </a:p>
                  </a:txBody>
                  <a:tcPr>
                    <a:solidFill>
                      <a:srgbClr val="0B5E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B5E8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A"/>
                          </a:solidFill>
                        </a:rPr>
                        <a:t>Nakuru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A"/>
                          </a:solidFill>
                        </a:rPr>
                        <a:t>Fabric Softener 1L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7202A"/>
                          </a:solidFill>
                        </a:rPr>
                        <a:t>-3,950.82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7202A"/>
                          </a:solidFill>
                        </a:rPr>
                        <a:t>-2,742.60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7202A"/>
                          </a:solidFill>
                        </a:rPr>
                        <a:t>-1,068.00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A"/>
                          </a:solidFill>
                        </a:rPr>
                        <a:t>Commercial / Pricing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A"/>
                          </a:solidFill>
                        </a:rPr>
                        <a:t>Nakuru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A"/>
                          </a:solidFill>
                        </a:rPr>
                        <a:t>Scouring Powder 500g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7202A"/>
                          </a:solidFill>
                        </a:rPr>
                        <a:t>-3,527.86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7202A"/>
                          </a:solidFill>
                        </a:rPr>
                        <a:t>-2,428.80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7202A"/>
                          </a:solidFill>
                        </a:rPr>
                        <a:t>-970.75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A"/>
                          </a:solidFill>
                        </a:rPr>
                        <a:t>Commercial / Pricing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A"/>
                          </a:solidFill>
                        </a:rPr>
                        <a:t>Mombasa 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A"/>
                          </a:solidFill>
                        </a:rPr>
                        <a:t>Fabric Softener 1L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7202A"/>
                          </a:solidFill>
                        </a:rPr>
                        <a:t>-3,427.92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7202A"/>
                          </a:solidFill>
                        </a:rPr>
                        <a:t>104.40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7202A"/>
                          </a:solidFill>
                        </a:rPr>
                        <a:t>-1,288.80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A"/>
                          </a:solidFill>
                        </a:rPr>
                        <a:t>Branch Sales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A"/>
                          </a:solidFill>
                        </a:rPr>
                        <a:t>Mombasa 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A"/>
                          </a:solidFill>
                        </a:rPr>
                        <a:t>Scouring Powder 500g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7202A"/>
                          </a:solidFill>
                        </a:rPr>
                        <a:t>-3,051.30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7202A"/>
                          </a:solidFill>
                        </a:rPr>
                        <a:t>-92.96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7202A"/>
                          </a:solidFill>
                        </a:rPr>
                        <a:t>-1,162.00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A"/>
                          </a:solidFill>
                        </a:rPr>
                        <a:t>Branch Sales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A"/>
                          </a:solidFill>
                        </a:rPr>
                        <a:t>Nakuru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A"/>
                          </a:solidFill>
                        </a:rPr>
                        <a:t>Air Freshener 300ml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7202A"/>
                          </a:solidFill>
                        </a:rPr>
                        <a:t>-2,824.04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7202A"/>
                          </a:solidFill>
                        </a:rPr>
                        <a:t>-1,963.84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7202A"/>
                          </a:solidFill>
                        </a:rPr>
                        <a:t>-860.20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A"/>
                          </a:solidFill>
                        </a:rPr>
                        <a:t>Commercial / Pricing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7C8C"/>
                </a:solidFill>
                <a:latin typeface="Helvetica"/>
              </a:rPr>
              <a:t>All 120 lines are in outputs/tables/line_variance.csv.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7202A"/>
                </a:solidFill>
                <a:latin typeface="Helvetica"/>
              </a:rPr>
              <a:t>What I would do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C8C"/>
                </a:solidFill>
                <a:latin typeface="Helvetica"/>
              </a:rPr>
              <a:t>Owner, action, value at 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5E84"/>
                </a:solidFill>
                <a:latin typeface="Helvetica"/>
              </a:rPr>
              <a:t>Branch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60020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202A"/>
                </a:solidFill>
                <a:latin typeface="Helvetica"/>
              </a:rPr>
              <a:t>Rebuild the Mombasa Road trading plan against the trend gap  (Units below budget in 3 of the last 3 months, 10.86% down on a rolling basis: this is a branch drifting, not one bad month, and the unit gap is worth KES 41,382.41 of gross profit at budget margins.)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00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B03A2E"/>
                </a:solidFill>
                <a:latin typeface="Helvetica"/>
              </a:rPr>
              <a:t>41,382.41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5E84"/>
                </a:solidFill>
                <a:latin typeface="Helvetica"/>
              </a:rPr>
              <a:t>Commercial /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65176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202A"/>
                </a:solidFill>
                <a:latin typeface="Helvetica"/>
              </a:rPr>
              <a:t>Reissue the Nakuru price file and cap discount authority at 7%  (Prices realised 9.87% below the budgeted price for the volume actually sold, costing KES 40,901.06 of gross profit on KES 379,260.56 of budgeted branch revenue.)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2651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B03A2E"/>
                </a:solidFill>
                <a:latin typeface="Helvetica"/>
              </a:rPr>
              <a:t>40,901.06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5E84"/>
                </a:solidFill>
                <a:latin typeface="Helvetica"/>
              </a:rPr>
              <a:t>Procurement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70332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202A"/>
                </a:solidFill>
                <a:latin typeface="Helvetica"/>
              </a:rPr>
              <a:t>Renegotiate Home Care supply terms or reprice the range  (Unit costs on Home Care are running 6.56% above budget on the volume bought, costing KES 25,934.14 of gross profit.)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3703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B03A2E"/>
                </a:solidFill>
                <a:latin typeface="Helvetica"/>
              </a:rPr>
              <a:t>25,934.14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79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5E84"/>
                </a:solidFill>
                <a:latin typeface="Helvetica"/>
              </a:rPr>
              <a:t>Category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754879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7202A"/>
                </a:solidFill>
                <a:latin typeface="Helvetica"/>
              </a:rPr>
              <a:t>Review Staples ranging, promo depth and shelf allocation against the budgeted blend  (The blend moved towards lower-margin lines: Staples went from 25.00% of budgeted units to 31.56% actual, costing KES 14,164.16 of gross profit at budget margins.)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475487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B03A2E"/>
                </a:solidFill>
                <a:latin typeface="Helvetica"/>
              </a:rPr>
              <a:t>14,164.16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7C8C"/>
                </a:solidFill>
                <a:latin typeface="Helvetica"/>
              </a:rPr>
              <a:t>Worth of gross profit, review date the last working day of next month.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7202A"/>
                </a:solidFill>
                <a:latin typeface="Helvetica"/>
              </a:rPr>
              <a:t>Method, limits, and how to regenerate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C8C"/>
                </a:solidFill>
                <a:latin typeface="Helvetica"/>
              </a:rPr>
              <a:t>What a reader should not have to take on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7202A"/>
                </a:solidFill>
                <a:latin typeface="Helvetica"/>
              </a:rPr>
              <a:t>- Flexed budget: actual volume at budget price and cost. Volume, mix, price and cost reconcile to the cent.</a:t>
            </a:r>
          </a:p>
          <a:p>
            <a:pPr algn="l"/>
            <a:r>
              <a:rPr sz="1500" b="0">
                <a:solidFill>
                  <a:srgbClr val="17202A"/>
                </a:solidFill>
                <a:latin typeface="Helvetica"/>
              </a:rPr>
              <a:t/>
            </a:r>
          </a:p>
          <a:p>
            <a:pPr algn="l"/>
            <a:r>
              <a:rPr sz="1500" b="0">
                <a:solidFill>
                  <a:srgbClr val="17202A"/>
                </a:solidFill>
                <a:latin typeface="Helvetica"/>
              </a:rPr>
              <a:t>- Mix is the residual of the volume movement, so it is a portfolio effect - no single product manager owns it.</a:t>
            </a:r>
          </a:p>
          <a:p>
            <a:pPr algn="l"/>
            <a:r>
              <a:rPr sz="1500" b="0">
                <a:solidFill>
                  <a:srgbClr val="17202A"/>
                </a:solidFill>
                <a:latin typeface="Helvetica"/>
              </a:rPr>
              <a:t/>
            </a:r>
          </a:p>
          <a:p>
            <a:pPr algn="l"/>
            <a:r>
              <a:rPr sz="1500" b="0">
                <a:solidFill>
                  <a:srgbClr val="17202A"/>
                </a:solidFill>
                <a:latin typeface="Helvetica"/>
              </a:rPr>
              <a:t>- Gross profit only: no overhead allocation, no tax, no FX, no write-offs.</a:t>
            </a:r>
          </a:p>
          <a:p>
            <a:pPr algn="l"/>
            <a:r>
              <a:rPr sz="1500" b="0">
                <a:solidFill>
                  <a:srgbClr val="17202A"/>
                </a:solidFill>
                <a:latin typeface="Helvetica"/>
              </a:rPr>
              <a:t/>
            </a:r>
          </a:p>
          <a:p>
            <a:pPr algn="l"/>
            <a:r>
              <a:rPr sz="1500" b="0">
                <a:solidFill>
                  <a:srgbClr val="17202A"/>
                </a:solidFill>
                <a:latin typeface="Helvetica"/>
              </a:rPr>
              <a:t>- 120 lines, 3 branches, 18 months, 17 published checks over 16 distinct identities.</a:t>
            </a:r>
          </a:p>
          <a:p>
            <a:pPr algn="l"/>
            <a:r>
              <a:rPr sz="1500" b="0">
                <a:solidFill>
                  <a:srgbClr val="17202A"/>
                </a:solidFill>
                <a:latin typeface="Helvetica"/>
              </a:rPr>
              <a:t/>
            </a:r>
          </a:p>
          <a:p>
            <a:pPr algn="l"/>
            <a:r>
              <a:rPr sz="1500" b="0">
                <a:solidFill>
                  <a:srgbClr val="17202A"/>
                </a:solidFill>
                <a:latin typeface="Helvetica"/>
              </a:rPr>
              <a:t>- Synthetic seeded ledger; a hand-edited line fails its fingerprint check.</a:t>
            </a:r>
          </a:p>
          <a:p>
            <a:pPr algn="l"/>
            <a:r>
              <a:rPr sz="1500" b="0">
                <a:solidFill>
                  <a:srgbClr val="17202A"/>
                </a:solidFill>
                <a:latin typeface="Helvetica"/>
              </a:rPr>
              <a:t/>
            </a:r>
          </a:p>
          <a:p>
            <a:pPr algn="l"/>
            <a:r>
              <a:rPr sz="1500" b="0">
                <a:solidFill>
                  <a:srgbClr val="17202A"/>
                </a:solidFill>
                <a:latin typeface="Helvetica"/>
              </a:rPr>
              <a:t>- Regenerate the pack with make run; rebuild this deck and the PDF with make docs.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7C8C"/>
                </a:solidFill>
                <a:latin typeface="Helvetica"/>
              </a:rPr>
              <a:t>How a pack like this runs month to month: docs/how-a-management-pack-is-produced.md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management pack - 2026-06</dc:title>
  <dc:subject>Synthetic management reporting pack</dc:subject>
  <dc:creator>Sting Analytics</dc:creator>
  <cp:keywords/>
  <dc:description>generated using python-pptx</dc:description>
  <cp:lastModifiedBy>Sting Analytics</cp:lastModifiedBy>
  <cp:revision>1</cp:revision>
  <dcterms:created xsi:type="dcterms:W3CDTF">2026-06-30T12:00:00Z</dcterms:created>
  <dcterms:modified xsi:type="dcterms:W3CDTF">2026-06-30T12:00:00Z</dcterms:modified>
  <cp:category/>
</cp:coreProperties>
</file>